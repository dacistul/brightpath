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layfair Display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2BF8AC-DD3F-4EB4-88F9-66FE88C2676A}">
  <a:tblStyle styleId="{BE2BF8AC-DD3F-4EB4-88F9-66FE88C267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layfairDisplay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Inter-regular.fntdata"/><Relationship Id="rId27" Type="http://schemas.openxmlformats.org/officeDocument/2006/relationships/font" Target="fonts/PlayfairDisplay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524500" y="906809"/>
            <a:ext cx="1143000" cy="7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190511" y="1364009"/>
            <a:ext cx="7810976" cy="17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Bright Path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E-learning Platform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38412" y="3314551"/>
            <a:ext cx="71151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Personalized Education Without Geographic Boundaries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90950" y="4960441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Students: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Dumitrof D.S., Ion C.G., Stavarache M.C.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790950" y="5455741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Professor: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Conf. Dr. Ing. Costin-Andrei Boiangiu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74106"/>
            <a:ext cx="50482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74106"/>
            <a:ext cx="504825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52500" y="919311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MISSION: EDUCATION EQUITY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62000" y="919311"/>
            <a:ext cx="76200" cy="514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52525" y="3459956"/>
            <a:ext cx="448056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52525" y="3926681"/>
            <a:ext cx="4267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Geography often dictates the quality of education. Students in rural or low-bandwidth areas lack access to high-tier pedagogical tools, creating a global "Digital Divide."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72275" y="3459956"/>
            <a:ext cx="448056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Solution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72275" y="3926681"/>
            <a:ext cx="4267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Localized integration ensures a student in rural Romania accesses the same tools as a pro in Tokyo, tailored to cultural context and national exam standards.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280273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802731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45506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38277"/>
            <a:ext cx="5048250" cy="53101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52500" y="919311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AI-DRIVEN ADAPTIVE ENGINE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62000" y="919311"/>
            <a:ext cx="76200" cy="514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62000" y="2323802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Predictive Sequence Modeling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273337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Utilizing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LSTM neural networks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to process user behavior and construct personalized "forgetting curves" for proactive Spaced Repetition (SRS).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4559796"/>
            <a:ext cx="5048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Ebbinghaus Forgetting Curve: Retention (R) relative to time (t) and stability (S).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145506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23889" y="4028777"/>
            <a:ext cx="524470" cy="150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26506"/>
            <a:ext cx="33654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526506"/>
            <a:ext cx="33654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26506"/>
            <a:ext cx="33654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52500" y="919311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SUCCESS PILLARS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762000" y="919311"/>
            <a:ext cx="76200" cy="514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152525" y="3612356"/>
            <a:ext cx="27136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Pedagogical Efficacy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152525" y="4079081"/>
            <a:ext cx="258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25% improvement target in mock examination scores for active users.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803725" y="3612356"/>
            <a:ext cx="27136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Resilience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803725" y="4079081"/>
            <a:ext cx="258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99.9% uptime with 10-second offline data resolution via Delta-Sync.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54925" y="3612356"/>
            <a:ext cx="27136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Retention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54925" y="4079081"/>
            <a:ext cx="258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Day-30 retention rates above 40% through gamified loops.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295513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03725" y="295513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4925" y="2955131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952500" y="919311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PROPRIETARY BINARY-DELTA SYNC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762000" y="919311"/>
            <a:ext cx="76200" cy="514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3102768"/>
            <a:ext cx="34956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85%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4722018"/>
            <a:ext cx="3495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Footprint Reduction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019675" y="3134766"/>
            <a:ext cx="673084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Overcoming Infrastructure Barriers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019675" y="3544341"/>
            <a:ext cx="6410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Traditional apps resync entire data objects. Our protocol identifies only changed bits ("deltas"), allowing seamless learning even on limited mobile data plans in emerging markets.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019675" y="4649241"/>
            <a:ext cx="6410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Prioritizes academic progress over cosmetic updates.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9675" y="4706391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1907381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952500" y="919311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GLOBAL REACH &amp; LOCAL IMPACT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762000" y="919311"/>
            <a:ext cx="76200" cy="514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907381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6381750" y="2849016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Digital Empowerment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381750" y="3258591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From rural Romania to high-intensity hubs in Japan, Bright Path provides academic lifelines tailored to national standards like the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Bacalaureat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JLPT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657975" y="436349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762750" y="4363491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Nigeria: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Micro-credentials for gig economy.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57975" y="466829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762750" y="4668291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Romania: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Rural university placement parity.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57975" y="497309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62750" y="4973091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Japan: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Focus on social standing gamification.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14661"/>
            <a:ext cx="10668000" cy="44718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952500" y="919311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PREDICTIVE LEARNING SUCCESS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762000" y="919311"/>
            <a:ext cx="76200" cy="514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2483643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Identifying "at-risk" learners before failure using Random Forest regressors and engagement metadata.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5312568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*Metrics based on 18-month deployment targets and pilot study data.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952500" y="919311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STRATEGIC CONSORTIUM STRUCTURE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762000" y="919311"/>
            <a:ext cx="76200" cy="514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20"/>
          <p:cNvGraphicFramePr/>
          <p:nvPr/>
        </p:nvGraphicFramePr>
        <p:xfrm>
          <a:off x="762000" y="27503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{BE2BF8AC-DD3F-4EB4-88F9-66FE88C2676A}</a:tableStyleId>
              </a:tblPr>
              <a:tblGrid>
                <a:gridCol w="2401200"/>
                <a:gridCol w="2751375"/>
                <a:gridCol w="5515425"/>
              </a:tblGrid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Work Package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Lead Partner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Responsibility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WP2: Core Dev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Software Enterprise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Engine, Backend, and Offline Sync 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WP3: Localization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Regional Universities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Curriculum mapping and multilingual content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WP4: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Educational NGOs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Field testing and User-Acceptance Trials (UAT)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WP5: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Scientists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Measuring the "Learning Equity Index" (LEI)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6" name="Google Shape;186;p20"/>
          <p:cNvSpPr/>
          <p:nvPr/>
        </p:nvSpPr>
        <p:spPr>
          <a:xfrm>
            <a:off x="762000" y="3869531"/>
            <a:ext cx="2401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163192" y="3869531"/>
            <a:ext cx="2751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914578" y="3869531"/>
            <a:ext cx="55154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62000" y="4421981"/>
            <a:ext cx="2401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163192" y="4421981"/>
            <a:ext cx="2751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914578" y="4421981"/>
            <a:ext cx="55154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762000" y="4974431"/>
            <a:ext cx="2401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163192" y="4974431"/>
            <a:ext cx="2751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914578" y="4974431"/>
            <a:ext cx="55154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762000" y="5526881"/>
            <a:ext cx="2401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163192" y="5526881"/>
            <a:ext cx="2751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914578" y="5526881"/>
            <a:ext cx="55154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952500" y="919311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78-WEEK IMPLEMENTATION ROADMAP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762000" y="919311"/>
            <a:ext cx="76200" cy="514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762000" y="3733651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531590" y="35431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713995" y="4126706"/>
            <a:ext cx="201618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Discovery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762000" y="4519761"/>
            <a:ext cx="19201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Weeks 1–10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Curricular Mapping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3718470" y="35431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900875" y="4126706"/>
            <a:ext cx="201618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Core Dev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2948880" y="4519761"/>
            <a:ext cx="19201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Weeks 11–34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AI &amp; Backend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905351" y="35431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087756" y="4126706"/>
            <a:ext cx="201618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Localization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135760" y="4519761"/>
            <a:ext cx="19201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Weeks 35–52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Regional UX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8092231" y="35431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7274636" y="4126706"/>
            <a:ext cx="201618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Pilot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322641" y="4519761"/>
            <a:ext cx="19201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Weeks 53–66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Field Validation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10279112" y="35431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9461517" y="4126706"/>
            <a:ext cx="201618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Launch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9509521" y="4519761"/>
            <a:ext cx="19201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Weeks 67–78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Production Scale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8762" y="2383631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952500" y="919311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TOTAL BUDGET: €1,250,000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762000" y="919311"/>
            <a:ext cx="76200" cy="514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2362200" y="3217068"/>
            <a:ext cx="1666875" cy="1666875"/>
          </a:xfrm>
          <a:prstGeom prst="roundRect">
            <a:avLst>
              <a:gd fmla="val 28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6396037" y="3226593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60% Personnel &amp; R&amp;D: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€750k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396037" y="3674268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15% Cloud &amp; Computing: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€187k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396037" y="4121943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10% Hardware &amp; Pilots: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€125k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396037" y="4569618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15% Ops &amp; Contingency: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€188k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762000" y="1109811"/>
            <a:ext cx="4800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FUTURE GROWTH &amp; SCALING</a:t>
            </a:r>
            <a:endParaRPr/>
          </a:p>
        </p:txBody>
      </p:sp>
      <p:pic>
        <p:nvPicPr>
          <p:cNvPr descr="image.png" id="240" name="Google Shape;24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762000" y="2697807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Expanding the Horizon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762000" y="3285678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Our roadmap includes a scalable growth model designed to accommodate an initial user base of 50,000, with the elasticity to expand ten-fold within the first two years.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762000" y="4885878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By partnering with global certification bodies, Bright Path transforms skill acquisition into immediate global employability.</a:t>
            </a:r>
            <a:endParaRPr/>
          </a:p>
        </p:txBody>
      </p:sp>
      <p:pic>
        <p:nvPicPr>
          <p:cNvPr descr="image.png" id="244" name="Google Shape;24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409878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8100" y="3667125"/>
            <a:ext cx="44958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2750581" y="1239142"/>
            <a:ext cx="669083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Questions &amp; Answers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2833687" y="2668934"/>
            <a:ext cx="65246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Thank you for your attention to Bright Path's vision.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4238625" y="4248150"/>
            <a:ext cx="3714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Bright Path E-learning Platform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4238625" y="4743450"/>
            <a:ext cx="3714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 Multi-Disciplinary Consortium Initiative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4238625" y="5238750"/>
            <a:ext cx="3714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www.brightpath-learning.org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952500" y="919311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762000" y="919311"/>
            <a:ext cx="76200" cy="514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762000" y="2779067"/>
            <a:ext cx="10668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762000" y="3761928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762000" y="3752403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762000" y="3752403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762000" y="4537174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762000" y="4537174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276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857375" y="2921942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https://static.vecteezy.com/system/resources/previews/024/812/124/non_2x/deep-learning-visualization-ai-artificial-intelligence-concept-of-neural-networks-wave-equalizer-illustration-vector.jpg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857375" y="3365748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113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857375" y="3904803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https://www.gettingsmart.com/wp-content/uploads/2017/02/Diverse-students-using-digital-content-on-their-tablets-in-a-library-Feature-Image.jpg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857375" y="4150518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www.gettingsmart.com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69612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857375" y="4689574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https://jacoblund.com/cdn/shop/files/7e626242bc6f736215943954eee72625_1200x787.jpg?v=1759445611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857375" y="4935289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jacoblund.com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